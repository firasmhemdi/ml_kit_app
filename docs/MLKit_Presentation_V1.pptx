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4509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Shape 2"/>
          <p:cNvSpPr/>
          <p:nvPr/>
        </p:nvSpPr>
        <p:spPr>
          <a:xfrm>
            <a:off x="182880" y="3474720"/>
            <a:ext cx="2743200" cy="2743200"/>
          </a:xfrm>
          <a:prstGeom prst="ellipse">
            <a:avLst/>
          </a:prstGeom>
          <a:solidFill>
            <a:srgbClr val="0D47A1">
              <a:alpha val="20000"/>
            </a:srgbClr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" name="Shape 3"/>
          <p:cNvSpPr/>
          <p:nvPr/>
        </p:nvSpPr>
        <p:spPr>
          <a:xfrm>
            <a:off x="1371600" y="457200"/>
            <a:ext cx="1371600" cy="1371600"/>
          </a:xfrm>
          <a:prstGeom prst="ellipse">
            <a:avLst/>
          </a:prstGeom>
          <a:solidFill>
            <a:srgbClr val="FFFFFF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Text 4"/>
          <p:cNvSpPr/>
          <p:nvPr/>
        </p:nvSpPr>
        <p:spPr>
          <a:xfrm>
            <a:off x="1371600" y="457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🧠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2880" y="20116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Kit App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82880" y="2926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B5F6"/>
                </a:solidFill>
              </a:rPr>
              <a:t>Flutter × Google ML Kit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B5F6"/>
                </a:solidFill>
              </a:rPr>
              <a:t>× IA Générative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3703320"/>
            <a:ext cx="3566160" cy="36576"/>
          </a:xfrm>
          <a:prstGeom prst="rect">
            <a:avLst/>
          </a:prstGeom>
          <a:solidFill>
            <a:srgbClr val="64B5F6">
              <a:alpha val="50000"/>
            </a:srgbClr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8"/>
          <p:cNvSpPr/>
          <p:nvPr/>
        </p:nvSpPr>
        <p:spPr>
          <a:xfrm>
            <a:off x="18288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</a:rPr>
              <a:t>ISET SFAX  —  AFCP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Firas Mhemdi  &amp;  Ezedine Jlidi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B5F6"/>
                </a:solidFill>
              </a:rPr>
              <a:t>Année universitaire 2025 /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4572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46E7A"/>
                </a:solidFill>
              </a:rPr>
              <a:t>Atelier Framework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46E7A"/>
                </a:solidFill>
              </a:rPr>
              <a:t>Cross-Platform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737360"/>
            <a:ext cx="3840480" cy="36576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4389120" y="19202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46E7A"/>
                </a:solidFill>
              </a:rPr>
              <a:t>Application Flutter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46E7A"/>
                </a:solidFill>
              </a:rPr>
              <a:t>exploitant les services de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0" y="2788920"/>
            <a:ext cx="4206240" cy="960120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4572000" y="2834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</a:rPr>
              <a:t>🤖  Google ML Kit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0" y="3246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88E5"/>
                </a:solidFill>
              </a:rPr>
              <a:t>Vision  •  NLP  •  IA Générative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4206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err="1">
                <a:solidFill>
                  <a:srgbClr val="546E7A"/>
                </a:solidFill>
              </a:rPr>
              <a:t>Enseignant</a:t>
            </a:r>
            <a:r>
              <a:rPr lang="en-US" sz="1100" dirty="0">
                <a:solidFill>
                  <a:srgbClr val="546E7A"/>
                </a:solidFill>
              </a:rPr>
              <a:t> : S. Hadhri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E7A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Sommaire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50392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B5F6"/>
                </a:solidFill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64008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429768" y="1234440"/>
            <a:ext cx="384048" cy="384048"/>
          </a:xfrm>
          <a:prstGeom prst="rect">
            <a:avLst/>
          </a:prstGeom>
          <a:solidFill>
            <a:srgbClr val="1565C0">
              <a:alpha val="15000"/>
            </a:srgbClr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42976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4904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</a:rPr>
              <a:t>Contexte et objectifs du projet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9280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2" name="Shape 10"/>
          <p:cNvSpPr/>
          <p:nvPr/>
        </p:nvSpPr>
        <p:spPr>
          <a:xfrm>
            <a:off x="320040" y="1892808"/>
            <a:ext cx="64008" cy="6217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Shape 11"/>
          <p:cNvSpPr/>
          <p:nvPr/>
        </p:nvSpPr>
        <p:spPr>
          <a:xfrm>
            <a:off x="429768" y="1984248"/>
            <a:ext cx="384048" cy="384048"/>
          </a:xfrm>
          <a:prstGeom prst="rect">
            <a:avLst/>
          </a:prstGeom>
          <a:solidFill>
            <a:srgbClr val="1E88E5">
              <a:alpha val="15000"/>
            </a:srgbClr>
          </a:solidFill>
          <a:ln w="635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42976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8E5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9385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C'est quoi Google ML Kit 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2402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</a:rPr>
              <a:t>Définition, avantages et architecture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642616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Shape 16"/>
          <p:cNvSpPr/>
          <p:nvPr/>
        </p:nvSpPr>
        <p:spPr>
          <a:xfrm>
            <a:off x="320040" y="2642616"/>
            <a:ext cx="64008" cy="6217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Shape 17"/>
          <p:cNvSpPr/>
          <p:nvPr/>
        </p:nvSpPr>
        <p:spPr>
          <a:xfrm>
            <a:off x="429768" y="2734056"/>
            <a:ext cx="384048" cy="384048"/>
          </a:xfrm>
          <a:prstGeom prst="rect">
            <a:avLst/>
          </a:prstGeom>
          <a:solidFill>
            <a:srgbClr val="00897B">
              <a:alpha val="15000"/>
            </a:srgbClr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8"/>
          <p:cNvSpPr/>
          <p:nvPr/>
        </p:nvSpPr>
        <p:spPr>
          <a:xfrm>
            <a:off x="429768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6883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Nos Fonctionnalités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99008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</a:rPr>
              <a:t>Les 4 fonctionnalités implémentées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39242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" name="Shape 22"/>
          <p:cNvSpPr/>
          <p:nvPr/>
        </p:nvSpPr>
        <p:spPr>
          <a:xfrm>
            <a:off x="320040" y="3392424"/>
            <a:ext cx="64008" cy="6217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Shape 23"/>
          <p:cNvSpPr/>
          <p:nvPr/>
        </p:nvSpPr>
        <p:spPr>
          <a:xfrm>
            <a:off x="429768" y="3483864"/>
            <a:ext cx="384048" cy="384048"/>
          </a:xfrm>
          <a:prstGeom prst="rect">
            <a:avLst/>
          </a:prstGeom>
          <a:solidFill>
            <a:srgbClr val="1E88E5">
              <a:alpha val="15000"/>
            </a:srgbClr>
          </a:solidFill>
          <a:ln w="635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4"/>
          <p:cNvSpPr/>
          <p:nvPr/>
        </p:nvSpPr>
        <p:spPr>
          <a:xfrm>
            <a:off x="429768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8E5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4381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Notre Application Flutter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73989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</a:rPr>
              <a:t>Architecture, fichiers, technologies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14223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0" name="Shape 28"/>
          <p:cNvSpPr/>
          <p:nvPr/>
        </p:nvSpPr>
        <p:spPr>
          <a:xfrm>
            <a:off x="320040" y="4142232"/>
            <a:ext cx="64008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Shape 29"/>
          <p:cNvSpPr/>
          <p:nvPr/>
        </p:nvSpPr>
        <p:spPr>
          <a:xfrm>
            <a:off x="429768" y="4233672"/>
            <a:ext cx="384048" cy="384048"/>
          </a:xfrm>
          <a:prstGeom prst="rect">
            <a:avLst/>
          </a:prstGeom>
          <a:solidFill>
            <a:srgbClr val="1565C0">
              <a:alpha val="15000"/>
            </a:srgbClr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2" name="Text 30"/>
          <p:cNvSpPr/>
          <p:nvPr/>
        </p:nvSpPr>
        <p:spPr>
          <a:xfrm>
            <a:off x="429768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41879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Reconnaissance de Texte (OCR)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448970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</a:rPr>
              <a:t>Implémentation ML Kit Vision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114300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6" name="Shape 34"/>
          <p:cNvSpPr/>
          <p:nvPr/>
        </p:nvSpPr>
        <p:spPr>
          <a:xfrm>
            <a:off x="4709160" y="1143000"/>
            <a:ext cx="6400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Shape 35"/>
          <p:cNvSpPr/>
          <p:nvPr/>
        </p:nvSpPr>
        <p:spPr>
          <a:xfrm>
            <a:off x="4818888" y="1234440"/>
            <a:ext cx="384048" cy="384048"/>
          </a:xfrm>
          <a:prstGeom prst="rect">
            <a:avLst/>
          </a:prstGeom>
          <a:solidFill>
            <a:srgbClr val="C62828">
              <a:alpha val="15000"/>
            </a:srgbClr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8" name="Text 36"/>
          <p:cNvSpPr/>
          <p:nvPr/>
        </p:nvSpPr>
        <p:spPr>
          <a:xfrm>
            <a:off x="481888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Détection de Visage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03520" y="14904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</a:rPr>
              <a:t>Implémentation ML Kit Visage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189280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2" name="Shape 40"/>
          <p:cNvSpPr/>
          <p:nvPr/>
        </p:nvSpPr>
        <p:spPr>
          <a:xfrm>
            <a:off x="4709160" y="1892808"/>
            <a:ext cx="64008" cy="6217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3" name="Shape 41"/>
          <p:cNvSpPr/>
          <p:nvPr/>
        </p:nvSpPr>
        <p:spPr>
          <a:xfrm>
            <a:off x="4818888" y="1984248"/>
            <a:ext cx="384048" cy="384048"/>
          </a:xfrm>
          <a:prstGeom prst="rect">
            <a:avLst/>
          </a:prstGeom>
          <a:solidFill>
            <a:srgbClr val="00897B">
              <a:alpha val="15000"/>
            </a:srgbClr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42"/>
          <p:cNvSpPr/>
          <p:nvPr/>
        </p:nvSpPr>
        <p:spPr>
          <a:xfrm>
            <a:off x="481888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</a:rPr>
              <a:t>07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0" y="19385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Traduction Hors-ligne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03520" y="22402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</a:rPr>
              <a:t>Implémentation ML Kit Traduction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09160" y="2642616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8" name="Shape 46"/>
          <p:cNvSpPr/>
          <p:nvPr/>
        </p:nvSpPr>
        <p:spPr>
          <a:xfrm>
            <a:off x="4709160" y="2642616"/>
            <a:ext cx="64008" cy="62179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9" name="Shape 47"/>
          <p:cNvSpPr/>
          <p:nvPr/>
        </p:nvSpPr>
        <p:spPr>
          <a:xfrm>
            <a:off x="4818888" y="2734056"/>
            <a:ext cx="384048" cy="384048"/>
          </a:xfrm>
          <a:prstGeom prst="rect">
            <a:avLst/>
          </a:prstGeom>
          <a:solidFill>
            <a:srgbClr val="F57C00">
              <a:alpha val="15000"/>
            </a:srgbClr>
          </a:solidFill>
          <a:ln w="63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48"/>
          <p:cNvSpPr/>
          <p:nvPr/>
        </p:nvSpPr>
        <p:spPr>
          <a:xfrm>
            <a:off x="4818888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7C00"/>
                </a:solidFill>
              </a:rPr>
              <a:t>08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03520" y="26883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Intelligence Artificielle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03520" y="299008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</a:rPr>
              <a:t>Chat Groq (Llama 3.3) — Implémentation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09160" y="339242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4" name="Shape 52"/>
          <p:cNvSpPr/>
          <p:nvPr/>
        </p:nvSpPr>
        <p:spPr>
          <a:xfrm>
            <a:off x="4709160" y="3392424"/>
            <a:ext cx="64008" cy="6217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5" name="Shape 53"/>
          <p:cNvSpPr/>
          <p:nvPr/>
        </p:nvSpPr>
        <p:spPr>
          <a:xfrm>
            <a:off x="4818888" y="3483864"/>
            <a:ext cx="384048" cy="384048"/>
          </a:xfrm>
          <a:prstGeom prst="rect">
            <a:avLst/>
          </a:prstGeom>
          <a:solidFill>
            <a:srgbClr val="1E88E5">
              <a:alpha val="15000"/>
            </a:srgbClr>
          </a:solidFill>
          <a:ln w="635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6" name="Text 54"/>
          <p:cNvSpPr/>
          <p:nvPr/>
        </p:nvSpPr>
        <p:spPr>
          <a:xfrm>
            <a:off x="4818888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8E5"/>
                </a:solidFill>
              </a:rPr>
              <a:t>09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03520" y="34381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Démonstration en direct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303520" y="373989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</a:rPr>
              <a:t>Démonstration live de l'application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709160" y="414223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0" name="Shape 58"/>
          <p:cNvSpPr/>
          <p:nvPr/>
        </p:nvSpPr>
        <p:spPr>
          <a:xfrm>
            <a:off x="4709160" y="4142232"/>
            <a:ext cx="64008" cy="62179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1" name="Shape 59"/>
          <p:cNvSpPr/>
          <p:nvPr/>
        </p:nvSpPr>
        <p:spPr>
          <a:xfrm>
            <a:off x="4818888" y="4233672"/>
            <a:ext cx="384048" cy="384048"/>
          </a:xfrm>
          <a:prstGeom prst="rect">
            <a:avLst/>
          </a:prstGeom>
          <a:solidFill>
            <a:srgbClr val="0D47A1">
              <a:alpha val="15000"/>
            </a:srgbClr>
          </a:solidFill>
          <a:ln w="635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2" name="Text 60"/>
          <p:cNvSpPr/>
          <p:nvPr/>
        </p:nvSpPr>
        <p:spPr>
          <a:xfrm>
            <a:off x="4818888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7A1"/>
                </a:solidFill>
              </a:rPr>
              <a:t>10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303520" y="41879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303520" y="448970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</a:rPr>
              <a:t>Bilan et perspectives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91440" y="91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Introduction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377440" y="91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 et objectifs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0392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B5F6"/>
                </a:solidFill>
              </a:rPr>
              <a:t>03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85039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91440" cy="7772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📌  Dans le cadre de l'Atelier Framework Cross-Platform (AFCP), nous avons développé une application Flutter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utilisant Google ML Kit pour intégrer l'Intelligence Artificielle directement dans une application mobile Android.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8503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411480" y="202996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Objectifs du projet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" y="257860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1"/>
          <p:cNvSpPr/>
          <p:nvPr/>
        </p:nvSpPr>
        <p:spPr>
          <a:xfrm>
            <a:off x="347472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2505456"/>
            <a:ext cx="37307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841248" y="257860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Maîtriser Flutter et le langage Dart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347472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" y="3054096"/>
            <a:ext cx="37307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9" name="Text 17"/>
          <p:cNvSpPr/>
          <p:nvPr/>
        </p:nvSpPr>
        <p:spPr>
          <a:xfrm>
            <a:off x="841248" y="312724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Intégrer Google ML Kit dans une application mobile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367588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>
            <a:off x="347472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" y="3602736"/>
            <a:ext cx="37307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841248" y="367588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Implémenter la reconnaissance de texte, la détection de visage et la traduction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" y="422452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Text 23"/>
          <p:cNvSpPr/>
          <p:nvPr/>
        </p:nvSpPr>
        <p:spPr>
          <a:xfrm>
            <a:off x="347472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" y="4151376"/>
            <a:ext cx="37307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7" name="Text 25"/>
          <p:cNvSpPr/>
          <p:nvPr/>
        </p:nvSpPr>
        <p:spPr>
          <a:xfrm>
            <a:off x="841248" y="422452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Connecter une API d'intelligence artificielle générative (Groq)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73168" y="250545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773168" y="331012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C'est quoi Google ML Kit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50392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B5F6"/>
                </a:solidFill>
              </a:rPr>
              <a:t>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91440" cy="7498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🔬  ML Kit est une bibliothèque de Google qui intègre l'Intelligence Artificielle directement dans les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applications mobiles Flutter, sans connexion internet pour la plupart des fonctionnalités.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029968"/>
            <a:ext cx="278892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27889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Shape 8"/>
          <p:cNvSpPr/>
          <p:nvPr/>
        </p:nvSpPr>
        <p:spPr>
          <a:xfrm>
            <a:off x="1298448" y="2212848"/>
            <a:ext cx="822960" cy="822960"/>
          </a:xfrm>
          <a:prstGeom prst="ellipse">
            <a:avLst/>
          </a:prstGeom>
          <a:solidFill>
            <a:srgbClr val="1565C0">
              <a:alpha val="15000"/>
            </a:srgbClr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1298448" y="22128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" y="31821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Sur l'appareil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" y="36118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Traitement 100% local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sur le téléphone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sans internet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029968"/>
            <a:ext cx="278892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Shape 13"/>
          <p:cNvSpPr/>
          <p:nvPr/>
        </p:nvSpPr>
        <p:spPr>
          <a:xfrm>
            <a:off x="3246120" y="2029968"/>
            <a:ext cx="278892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Shape 14"/>
          <p:cNvSpPr/>
          <p:nvPr/>
        </p:nvSpPr>
        <p:spPr>
          <a:xfrm>
            <a:off x="4224528" y="2212848"/>
            <a:ext cx="822960" cy="822960"/>
          </a:xfrm>
          <a:prstGeom prst="ellipse">
            <a:avLst/>
          </a:prstGeom>
          <a:solidFill>
            <a:srgbClr val="00897B">
              <a:alpha val="15000"/>
            </a:srgbClr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4224528" y="22128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46120" y="31821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97B"/>
                </a:solidFill>
              </a:rPr>
              <a:t>Rapide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46120" y="36118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Temps réel,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latence faible,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hautes performances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2029968"/>
            <a:ext cx="278892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1" name="Shape 19"/>
          <p:cNvSpPr/>
          <p:nvPr/>
        </p:nvSpPr>
        <p:spPr>
          <a:xfrm>
            <a:off x="6172200" y="2029968"/>
            <a:ext cx="2788920" cy="731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Shape 20"/>
          <p:cNvSpPr/>
          <p:nvPr/>
        </p:nvSpPr>
        <p:spPr>
          <a:xfrm>
            <a:off x="7150608" y="2212848"/>
            <a:ext cx="822960" cy="822960"/>
          </a:xfrm>
          <a:prstGeom prst="ellipse">
            <a:avLst/>
          </a:prstGeom>
          <a:solidFill>
            <a:srgbClr val="F57C00">
              <a:alpha val="15000"/>
            </a:srgbClr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7150608" y="22128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172200" y="31821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7C00"/>
                </a:solidFill>
              </a:rPr>
              <a:t>Confidentiel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72200" y="36118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Données restent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sur l'appareil,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</a:rPr>
              <a:t>aucun envoi vers cloud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 Fonctionnalités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0392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B5F6"/>
                </a:solidFill>
              </a:rPr>
              <a:t>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73152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475488" y="1325880"/>
            <a:ext cx="411480" cy="411480"/>
          </a:xfrm>
          <a:prstGeom prst="rect">
            <a:avLst/>
          </a:prstGeom>
          <a:solidFill>
            <a:srgbClr val="1565C0">
              <a:alpha val="15000"/>
            </a:srgbClr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23444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64208" y="1216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121"/>
                </a:solidFill>
              </a:rPr>
              <a:t>Reconnaissance de Texte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64208" y="1600200"/>
            <a:ext cx="1188720" cy="237744"/>
          </a:xfrm>
          <a:prstGeom prst="rect">
            <a:avLst/>
          </a:prstGeom>
          <a:solidFill>
            <a:srgbClr val="1565C0">
              <a:alpha val="15000"/>
            </a:srgbClr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/>
          <p:nvPr/>
        </p:nvSpPr>
        <p:spPr>
          <a:xfrm>
            <a:off x="1664208" y="16002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Vision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1252728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</a:rPr>
              <a:t>Lire et extraire le texte dans une image grâce au module TextRecognizer de ML Kit.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103120"/>
            <a:ext cx="850392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Shape 13"/>
          <p:cNvSpPr/>
          <p:nvPr/>
        </p:nvSpPr>
        <p:spPr>
          <a:xfrm>
            <a:off x="320040" y="2103120"/>
            <a:ext cx="73152" cy="8046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Shape 14"/>
          <p:cNvSpPr/>
          <p:nvPr/>
        </p:nvSpPr>
        <p:spPr>
          <a:xfrm>
            <a:off x="475488" y="2286000"/>
            <a:ext cx="411480" cy="411480"/>
          </a:xfrm>
          <a:prstGeom prst="rect">
            <a:avLst/>
          </a:prstGeom>
          <a:solidFill>
            <a:srgbClr val="C62828">
              <a:alpha val="15000"/>
            </a:srgbClr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475488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19456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😊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64208" y="21762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121"/>
                </a:solidFill>
              </a:rPr>
              <a:t>Détection de Visage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664208" y="2560320"/>
            <a:ext cx="1188720" cy="237744"/>
          </a:xfrm>
          <a:prstGeom prst="rect">
            <a:avLst/>
          </a:prstGeom>
          <a:solidFill>
            <a:srgbClr val="C62828">
              <a:alpha val="15000"/>
            </a:srgbClr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>
            <a:off x="1664208" y="2560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</a:rPr>
              <a:t>Vision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2212848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</a:rPr>
              <a:t>Analyser un visage dans une photo : sourire, yeux ouverts, rotation de la tête.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063240"/>
            <a:ext cx="850392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" name="Shape 22"/>
          <p:cNvSpPr/>
          <p:nvPr/>
        </p:nvSpPr>
        <p:spPr>
          <a:xfrm>
            <a:off x="320040" y="3063240"/>
            <a:ext cx="73152" cy="8046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Shape 23"/>
          <p:cNvSpPr/>
          <p:nvPr/>
        </p:nvSpPr>
        <p:spPr>
          <a:xfrm>
            <a:off x="475488" y="3246120"/>
            <a:ext cx="411480" cy="411480"/>
          </a:xfrm>
          <a:prstGeom prst="rect">
            <a:avLst/>
          </a:prstGeom>
          <a:solidFill>
            <a:srgbClr val="00897B">
              <a:alpha val="15000"/>
            </a:srgbClr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4"/>
          <p:cNvSpPr/>
          <p:nvPr/>
        </p:nvSpPr>
        <p:spPr>
          <a:xfrm>
            <a:off x="475488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15468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664208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121"/>
                </a:solidFill>
              </a:rPr>
              <a:t>Traduction Hors-ligne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664208" y="3520440"/>
            <a:ext cx="1188720" cy="237744"/>
          </a:xfrm>
          <a:prstGeom prst="rect">
            <a:avLst/>
          </a:prstGeom>
          <a:solidFill>
            <a:srgbClr val="00897B">
              <a:alpha val="15000"/>
            </a:srgbClr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8"/>
          <p:cNvSpPr/>
          <p:nvPr/>
        </p:nvSpPr>
        <p:spPr>
          <a:xfrm>
            <a:off x="1664208" y="3520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</a:rPr>
              <a:t>Traitement NLP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3172968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</a:rPr>
              <a:t>Traduire du texte entre 5 langues sans connexion internet grâce aux modèles ML Kit.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4023360"/>
            <a:ext cx="850392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3" name="Shape 31"/>
          <p:cNvSpPr/>
          <p:nvPr/>
        </p:nvSpPr>
        <p:spPr>
          <a:xfrm>
            <a:off x="320040" y="4023360"/>
            <a:ext cx="73152" cy="8046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Shape 32"/>
          <p:cNvSpPr/>
          <p:nvPr/>
        </p:nvSpPr>
        <p:spPr>
          <a:xfrm>
            <a:off x="475488" y="4206240"/>
            <a:ext cx="411480" cy="411480"/>
          </a:xfrm>
          <a:prstGeom prst="rect">
            <a:avLst/>
          </a:prstGeom>
          <a:solidFill>
            <a:srgbClr val="F57C00">
              <a:alpha val="15000"/>
            </a:srgbClr>
          </a:solidFill>
          <a:ln w="63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475488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7C00"/>
                </a:solidFill>
              </a:rPr>
              <a:t>04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0120" y="411480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1664208" y="4096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121"/>
                </a:solidFill>
              </a:rPr>
              <a:t>Intelligence Artificielle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664208" y="4480560"/>
            <a:ext cx="1188720" cy="237744"/>
          </a:xfrm>
          <a:prstGeom prst="rect">
            <a:avLst/>
          </a:prstGeom>
          <a:solidFill>
            <a:srgbClr val="F57C00">
              <a:alpha val="15000"/>
            </a:srgbClr>
          </a:solidFill>
          <a:ln w="63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9" name="Text 37"/>
          <p:cNvSpPr/>
          <p:nvPr/>
        </p:nvSpPr>
        <p:spPr>
          <a:xfrm>
            <a:off x="1664208" y="44805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C00"/>
                </a:solidFill>
              </a:rPr>
              <a:t>Groq (Llama 3.3)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4133088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</a:rPr>
              <a:t>Un chat intelligent qui répond à vos questions via l'API Groq — modèle Llama 3.3.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Notre Application Flutter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50392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B5F6"/>
                </a:solidFill>
              </a:rPr>
              <a:t>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📁  Structure des fichiers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18488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" name="Shape 6"/>
          <p:cNvSpPr/>
          <p:nvPr/>
        </p:nvSpPr>
        <p:spPr>
          <a:xfrm>
            <a:off x="320040" y="1618488"/>
            <a:ext cx="64008" cy="3931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main.dart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66420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Point d'entrée + Routes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84832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2" name="Shape 10"/>
          <p:cNvSpPr/>
          <p:nvPr/>
        </p:nvSpPr>
        <p:spPr>
          <a:xfrm>
            <a:off x="320040" y="2084832"/>
            <a:ext cx="64008" cy="3931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1"/>
          <p:cNvSpPr/>
          <p:nvPr/>
        </p:nvSpPr>
        <p:spPr>
          <a:xfrm>
            <a:off x="502920" y="213055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home_page.dart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13055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Page d'accueil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551176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Shape 14"/>
          <p:cNvSpPr/>
          <p:nvPr/>
        </p:nvSpPr>
        <p:spPr>
          <a:xfrm>
            <a:off x="320040" y="2551176"/>
            <a:ext cx="64008" cy="3931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502920" y="259689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ocr_page.dart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59689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Reconnaissance de texte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64008" cy="3931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>
            <a:off x="502920" y="3063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face_page.dart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3063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Détection de visage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483864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" name="Shape 22"/>
          <p:cNvSpPr/>
          <p:nvPr/>
        </p:nvSpPr>
        <p:spPr>
          <a:xfrm>
            <a:off x="320040" y="3483864"/>
            <a:ext cx="64008" cy="3931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Text 23"/>
          <p:cNvSpPr/>
          <p:nvPr/>
        </p:nvSpPr>
        <p:spPr>
          <a:xfrm>
            <a:off x="502920" y="352958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translate_page.dart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352958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Traduction hors-ligne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950208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8" name="Shape 26"/>
          <p:cNvSpPr/>
          <p:nvPr/>
        </p:nvSpPr>
        <p:spPr>
          <a:xfrm>
            <a:off x="320040" y="3950208"/>
            <a:ext cx="64008" cy="39319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502920" y="399592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ai_page.dart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99592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Intelligence artificielle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416552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2" name="Shape 30"/>
          <p:cNvSpPr/>
          <p:nvPr/>
        </p:nvSpPr>
        <p:spPr>
          <a:xfrm>
            <a:off x="320040" y="4416552"/>
            <a:ext cx="64008" cy="39319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3" name="Text 31"/>
          <p:cNvSpPr/>
          <p:nvPr/>
        </p:nvSpPr>
        <p:spPr>
          <a:xfrm>
            <a:off x="502920" y="44622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app_theme.dart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68880" y="44622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Couleurs centralisées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1143000"/>
            <a:ext cx="411480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6" name="Text 34"/>
          <p:cNvSpPr/>
          <p:nvPr/>
        </p:nvSpPr>
        <p:spPr>
          <a:xfrm>
            <a:off x="4800600" y="1143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Technologies utilisées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09160" y="1618488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8" name="Text 36"/>
          <p:cNvSpPr/>
          <p:nvPr/>
        </p:nvSpPr>
        <p:spPr>
          <a:xfrm>
            <a:off x="4846320" y="166420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💙  Flutter 3.24 / Dart 3.5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09160" y="2084832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0" name="Text 38"/>
          <p:cNvSpPr/>
          <p:nvPr/>
        </p:nvSpPr>
        <p:spPr>
          <a:xfrm>
            <a:off x="4846320" y="213055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📝  ML Kit — Reconnaissance de texte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09160" y="2551176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2" name="Text 40"/>
          <p:cNvSpPr/>
          <p:nvPr/>
        </p:nvSpPr>
        <p:spPr>
          <a:xfrm>
            <a:off x="4846320" y="259689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😊  ML Kit — Détection de visage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09160" y="3017520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4" name="Text 42"/>
          <p:cNvSpPr/>
          <p:nvPr/>
        </p:nvSpPr>
        <p:spPr>
          <a:xfrm>
            <a:off x="4846320" y="30632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🌍  ML Kit — Traduction (NLP)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09160" y="3483864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6" name="Text 44"/>
          <p:cNvSpPr/>
          <p:nvPr/>
        </p:nvSpPr>
        <p:spPr>
          <a:xfrm>
            <a:off x="4846320" y="35295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🤖  API Groq (Llama 3.3)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09160" y="3950208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8" name="Text 46"/>
          <p:cNvSpPr/>
          <p:nvPr/>
        </p:nvSpPr>
        <p:spPr>
          <a:xfrm>
            <a:off x="4846320" y="399592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12121"/>
                </a:solidFill>
              </a:rPr>
              <a:t>📷  </a:t>
            </a:r>
            <a:r>
              <a:rPr lang="en-US" sz="1200" dirty="0" err="1">
                <a:solidFill>
                  <a:srgbClr val="212121"/>
                </a:solidFill>
              </a:rPr>
              <a:t>image_picker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709160" y="4416552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0" name="Text 48"/>
          <p:cNvSpPr/>
          <p:nvPr/>
        </p:nvSpPr>
        <p:spPr>
          <a:xfrm>
            <a:off x="4846320" y="446227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🎨  HTTP + Thème centralisé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91440" y="1371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  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23160" y="91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Reconnaissance de Texte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0392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B5F6"/>
                </a:solidFill>
              </a:rPr>
              <a:t>07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Comment ça marche 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1591056"/>
            <a:ext cx="3566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1005840" y="163677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L'utilisateur choisit une image depuis la galerie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258568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1"/>
          <p:cNvSpPr/>
          <p:nvPr/>
        </p:nvSpPr>
        <p:spPr>
          <a:xfrm>
            <a:off x="320040" y="2258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2276856"/>
            <a:ext cx="3566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1005840" y="232257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L'image est convertie au format ML Kit (InputImage)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320040" y="2944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2962656"/>
            <a:ext cx="3566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9" name="Text 17"/>
          <p:cNvSpPr/>
          <p:nvPr/>
        </p:nvSpPr>
        <p:spPr>
          <a:xfrm>
            <a:off x="1005840" y="300837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Le module TextRecognizer analyse l'image avec l'IA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30168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>
            <a:off x="320040" y="3630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68680" y="3648456"/>
            <a:ext cx="3566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1005840" y="369417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Le texte extrait s'affiche à l'écran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173736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AAB9A5A0-CCD5-03C3-6ACD-88FB1ADE4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084953"/>
            <a:ext cx="2322285" cy="38468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10058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91440" y="1371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  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23160" y="91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Détection de Visage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50392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</a:rPr>
              <a:t>Ce que ML Kit analyse 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42976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16733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Probabilité de sourire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691640"/>
            <a:ext cx="1371600" cy="274320"/>
          </a:xfrm>
          <a:prstGeom prst="rect">
            <a:avLst/>
          </a:prstGeom>
          <a:solidFill>
            <a:srgbClr val="FCE4EC"/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/>
          <p:nvPr/>
        </p:nvSpPr>
        <p:spPr>
          <a:xfrm>
            <a:off x="315468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</a:rPr>
              <a:t>0.0 → 1.0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221992"/>
            <a:ext cx="42976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384048" y="2221992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2951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Œil gauche ouvert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54680" y="2313432"/>
            <a:ext cx="1371600" cy="274320"/>
          </a:xfrm>
          <a:prstGeom prst="rect">
            <a:avLst/>
          </a:prstGeom>
          <a:solidFill>
            <a:srgbClr val="FCE4EC"/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3154680" y="2313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</a:rPr>
              <a:t>0.0 → 1.0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843784"/>
            <a:ext cx="42976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9" name="Text 17"/>
          <p:cNvSpPr/>
          <p:nvPr/>
        </p:nvSpPr>
        <p:spPr>
          <a:xfrm>
            <a:off x="384048" y="284378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9169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Œil droit ouvert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2935224"/>
            <a:ext cx="1371600" cy="274320"/>
          </a:xfrm>
          <a:prstGeom prst="rect">
            <a:avLst/>
          </a:prstGeom>
          <a:solidFill>
            <a:srgbClr val="FCE4EC"/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20"/>
          <p:cNvSpPr/>
          <p:nvPr/>
        </p:nvSpPr>
        <p:spPr>
          <a:xfrm>
            <a:off x="3154680" y="2935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</a:rPr>
              <a:t>0.0 → 1.0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465576"/>
            <a:ext cx="42976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" name="Text 22"/>
          <p:cNvSpPr/>
          <p:nvPr/>
        </p:nvSpPr>
        <p:spPr>
          <a:xfrm>
            <a:off x="384048" y="346557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5387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Rotation de la tête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54680" y="3557016"/>
            <a:ext cx="1371600" cy="274320"/>
          </a:xfrm>
          <a:prstGeom prst="rect">
            <a:avLst/>
          </a:prstGeom>
          <a:solidFill>
            <a:srgbClr val="FCE4EC"/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7" name="Text 25"/>
          <p:cNvSpPr/>
          <p:nvPr/>
        </p:nvSpPr>
        <p:spPr>
          <a:xfrm>
            <a:off x="3154680" y="3557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</a:rPr>
              <a:t>Angle en 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087368"/>
            <a:ext cx="42976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384048" y="4087368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60120" y="41605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Taille du visage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54680" y="4178808"/>
            <a:ext cx="1371600" cy="274320"/>
          </a:xfrm>
          <a:prstGeom prst="rect">
            <a:avLst/>
          </a:prstGeom>
          <a:solidFill>
            <a:srgbClr val="FCE4EC"/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2" name="Text 30"/>
          <p:cNvSpPr/>
          <p:nvPr/>
        </p:nvSpPr>
        <p:spPr>
          <a:xfrm>
            <a:off x="3154680" y="4178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</a:rPr>
              <a:t>L × H pixels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06440" y="178308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7F766E02-D97B-2035-F497-27CC288E6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829" y="1145286"/>
            <a:ext cx="2330123" cy="35798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100584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91440" y="1371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  NLP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23160" y="91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Traduction Hors-ligne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0392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8503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91440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548640" y="11612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🔑  Point fort : Fonctionne SANS connexion internet ! ML Kit télécharge le modèle une seule fois (~30 Mo),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puis la traduction se fait entièrement sur l'appareil.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778" y="3662689"/>
            <a:ext cx="4096062" cy="328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</a:rPr>
              <a:t>Langues disponibles 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flipH="1">
            <a:off x="320038" y="4048990"/>
            <a:ext cx="787733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/>
          <p:nvPr/>
        </p:nvSpPr>
        <p:spPr>
          <a:xfrm flipH="1">
            <a:off x="335904" y="4093061"/>
            <a:ext cx="8633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🇫🇷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 flipH="1">
            <a:off x="335905" y="4495397"/>
            <a:ext cx="863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</a:rPr>
              <a:t>Français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flipH="1">
            <a:off x="2158589" y="4048990"/>
            <a:ext cx="772583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Text 16"/>
          <p:cNvSpPr/>
          <p:nvPr/>
        </p:nvSpPr>
        <p:spPr>
          <a:xfrm flipH="1">
            <a:off x="2158589" y="4085566"/>
            <a:ext cx="7725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🇸🇦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 flipH="1">
            <a:off x="2158589" y="4487902"/>
            <a:ext cx="7725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</a:rPr>
              <a:t>Arabe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flipH="1">
            <a:off x="3034018" y="4048990"/>
            <a:ext cx="772583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 flipH="1">
            <a:off x="3034018" y="4085566"/>
            <a:ext cx="7725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🇪🇸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 flipH="1">
            <a:off x="3034018" y="4487902"/>
            <a:ext cx="7725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</a:rPr>
              <a:t>Espagnol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flipH="1">
            <a:off x="3894450" y="4048990"/>
            <a:ext cx="772583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" name="Text 22"/>
          <p:cNvSpPr/>
          <p:nvPr/>
        </p:nvSpPr>
        <p:spPr>
          <a:xfrm flipH="1">
            <a:off x="3894450" y="4085566"/>
            <a:ext cx="7725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🇩🇪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 flipH="1">
            <a:off x="3894450" y="4487902"/>
            <a:ext cx="7725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</a:rPr>
              <a:t>Allemand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8778" y="1838547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</a:rPr>
              <a:t>Comment ça marche :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38778" y="2259171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9" name="Text 37"/>
          <p:cNvSpPr/>
          <p:nvPr/>
        </p:nvSpPr>
        <p:spPr>
          <a:xfrm>
            <a:off x="338778" y="22591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6250" y="2231739"/>
            <a:ext cx="3794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1" name="Text 39"/>
          <p:cNvSpPr/>
          <p:nvPr/>
        </p:nvSpPr>
        <p:spPr>
          <a:xfrm>
            <a:off x="795978" y="2277459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L'utilisateur saisit le texte à traduire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8778" y="2588355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3" name="Text 41"/>
          <p:cNvSpPr/>
          <p:nvPr/>
        </p:nvSpPr>
        <p:spPr>
          <a:xfrm>
            <a:off x="338778" y="25883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6250" y="2560923"/>
            <a:ext cx="3794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5" name="Text 43"/>
          <p:cNvSpPr/>
          <p:nvPr/>
        </p:nvSpPr>
        <p:spPr>
          <a:xfrm>
            <a:off x="795978" y="2606643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Il choisit la langue source et la langue cible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38778" y="2917539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7" name="Text 45"/>
          <p:cNvSpPr/>
          <p:nvPr/>
        </p:nvSpPr>
        <p:spPr>
          <a:xfrm>
            <a:off x="338778" y="29175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6250" y="2890107"/>
            <a:ext cx="3794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9" name="Text 47"/>
          <p:cNvSpPr/>
          <p:nvPr/>
        </p:nvSpPr>
        <p:spPr>
          <a:xfrm>
            <a:off x="795978" y="2935827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ML Kit traduit sur l'appareil, sans internet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38778" y="3246723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1" name="Text 49"/>
          <p:cNvSpPr/>
          <p:nvPr/>
        </p:nvSpPr>
        <p:spPr>
          <a:xfrm>
            <a:off x="338778" y="324672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6250" y="3219291"/>
            <a:ext cx="37947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3" name="Text 51"/>
          <p:cNvSpPr/>
          <p:nvPr/>
        </p:nvSpPr>
        <p:spPr>
          <a:xfrm>
            <a:off x="795978" y="3265011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Le résultat s'affiche instantanément</a:t>
            </a:r>
            <a:endParaRPr lang="en-US" sz="1100" dirty="0"/>
          </a:p>
        </p:txBody>
      </p:sp>
      <p:sp>
        <p:nvSpPr>
          <p:cNvPr id="58" name="Shape 9">
            <a:extLst>
              <a:ext uri="{FF2B5EF4-FFF2-40B4-BE49-F238E27FC236}">
                <a16:creationId xmlns:a16="http://schemas.microsoft.com/office/drawing/2014/main" id="{8AEA9BAE-0565-0209-8F94-362FAE66397A}"/>
              </a:ext>
            </a:extLst>
          </p:cNvPr>
          <p:cNvSpPr/>
          <p:nvPr/>
        </p:nvSpPr>
        <p:spPr>
          <a:xfrm flipH="1">
            <a:off x="1257861" y="4048994"/>
            <a:ext cx="78773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9" name="Text 10">
            <a:extLst>
              <a:ext uri="{FF2B5EF4-FFF2-40B4-BE49-F238E27FC236}">
                <a16:creationId xmlns:a16="http://schemas.microsoft.com/office/drawing/2014/main" id="{DAE74345-CF18-F82C-C5B7-11AA5B5B44EC}"/>
              </a:ext>
            </a:extLst>
          </p:cNvPr>
          <p:cNvSpPr/>
          <p:nvPr/>
        </p:nvSpPr>
        <p:spPr>
          <a:xfrm flipH="1">
            <a:off x="1282777" y="4073075"/>
            <a:ext cx="78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GB</a:t>
            </a:r>
            <a:endParaRPr lang="en-US" sz="2200" dirty="0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3E5A635D-6589-31AB-9066-DCF03464BB6C}"/>
              </a:ext>
            </a:extLst>
          </p:cNvPr>
          <p:cNvSpPr/>
          <p:nvPr/>
        </p:nvSpPr>
        <p:spPr>
          <a:xfrm flipH="1">
            <a:off x="1282778" y="4467916"/>
            <a:ext cx="863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</a:rPr>
              <a:t>Anglais</a:t>
            </a:r>
            <a:endParaRPr lang="en-US" sz="1200" dirty="0"/>
          </a:p>
        </p:txBody>
      </p:sp>
      <p:pic>
        <p:nvPicPr>
          <p:cNvPr id="65" name="Image 64">
            <a:extLst>
              <a:ext uri="{FF2B5EF4-FFF2-40B4-BE49-F238E27FC236}">
                <a16:creationId xmlns:a16="http://schemas.microsoft.com/office/drawing/2014/main" id="{808A0CE1-2013-48BF-8A84-B014407E3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305" y="1919083"/>
            <a:ext cx="2430655" cy="30941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91440" y="1371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  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23160" y="91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 Artificielle — API Groq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392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8503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91440" cy="6583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548640" y="11612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🔑  Nous utilisons l'API Groq avec le modèle Llama 3.3 — gratuit, rapide, et très puissant.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La réponse arrive en moins d'une seconde, même pour des questions complexes.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9019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7C00"/>
                </a:solidFill>
              </a:rPr>
              <a:t>Comment ça fonctionne 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359152"/>
            <a:ext cx="438912" cy="43891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/>
          <p:nvPr/>
        </p:nvSpPr>
        <p:spPr>
          <a:xfrm>
            <a:off x="320040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2377440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1005840" y="24231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L'utilisateur écrit une question dans le chat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53512"/>
            <a:ext cx="438912" cy="43891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Text 14"/>
          <p:cNvSpPr/>
          <p:nvPr/>
        </p:nvSpPr>
        <p:spPr>
          <a:xfrm>
            <a:off x="320040" y="2953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2971800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Text 16"/>
          <p:cNvSpPr/>
          <p:nvPr/>
        </p:nvSpPr>
        <p:spPr>
          <a:xfrm>
            <a:off x="1005840" y="30175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La requête est envoyée via HTTP à l'API Groq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547872"/>
            <a:ext cx="438912" cy="43891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8"/>
          <p:cNvSpPr/>
          <p:nvPr/>
        </p:nvSpPr>
        <p:spPr>
          <a:xfrm>
            <a:off x="320040" y="3547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68680" y="3566160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" name="Text 20"/>
          <p:cNvSpPr/>
          <p:nvPr/>
        </p:nvSpPr>
        <p:spPr>
          <a:xfrm>
            <a:off x="1005840" y="36118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Le modèle Llama 3.3 génère une réponse (format JSON)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142232"/>
            <a:ext cx="438912" cy="43891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" name="Text 22"/>
          <p:cNvSpPr/>
          <p:nvPr/>
        </p:nvSpPr>
        <p:spPr>
          <a:xfrm>
            <a:off x="320040" y="4142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68680" y="4160520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6" name="Text 24"/>
          <p:cNvSpPr/>
          <p:nvPr/>
        </p:nvSpPr>
        <p:spPr>
          <a:xfrm>
            <a:off x="1005840" y="4206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La réponse s'affiche dans la bulle de chat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2104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BE3F9E52-C67F-599C-0246-4C2F2DBE5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814" y="1844230"/>
            <a:ext cx="2393986" cy="32169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E88E5">
              <a:alpha val="18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5943600" y="2286000"/>
            <a:ext cx="5029200" cy="5029200"/>
          </a:xfrm>
          <a:prstGeom prst="ellipse">
            <a:avLst/>
          </a:prstGeom>
          <a:solidFill>
            <a:srgbClr val="0D47A1">
              <a:alpha val="20000"/>
            </a:srgbClr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474720" y="228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🚀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DÉMONSTRATION EN DIRECT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0" y="2377440"/>
            <a:ext cx="4572000" cy="64008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B5F6"/>
                </a:solidFill>
              </a:rPr>
              <a:t>Nous allons tester les 4 fonctionnalités en direct 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B5F6"/>
                </a:solidFill>
              </a:rPr>
              <a:t>09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1554480" cy="1554480"/>
          </a:xfrm>
          <a:prstGeom prst="ellipse">
            <a:avLst/>
          </a:prstGeom>
          <a:solidFill>
            <a:srgbClr val="FFFFFF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Reconnaissance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 texte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3154680"/>
            <a:ext cx="1554480" cy="1554480"/>
          </a:xfrm>
          <a:prstGeom prst="ellipse">
            <a:avLst/>
          </a:prstGeom>
          <a:solidFill>
            <a:srgbClr val="FCE4EC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😊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743200" y="4069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Détection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 visage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154680"/>
            <a:ext cx="1554480" cy="1554480"/>
          </a:xfrm>
          <a:prstGeom prst="ellipse">
            <a:avLst/>
          </a:prstGeom>
          <a:solidFill>
            <a:srgbClr val="E0F2F1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Text 14"/>
          <p:cNvSpPr/>
          <p:nvPr/>
        </p:nvSpPr>
        <p:spPr>
          <a:xfrm>
            <a:off x="4754880" y="3154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54880" y="4069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Traduction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hors-ligne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3154680"/>
            <a:ext cx="1554480" cy="1554480"/>
          </a:xfrm>
          <a:prstGeom prst="ellipse">
            <a:avLst/>
          </a:prstGeom>
          <a:solidFill>
            <a:srgbClr val="FFF3E0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7"/>
          <p:cNvSpPr/>
          <p:nvPr/>
        </p:nvSpPr>
        <p:spPr>
          <a:xfrm>
            <a:off x="6766560" y="3154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766560" y="4069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Intelligence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artificielle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503920" y="320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B5F6"/>
                </a:solidFill>
              </a:rPr>
              <a:t>12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91440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✅  Ce projet nous a permis de maîtriser Flutter et d'intégrer Google ML Kit dans une vraie application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mobile Android, en exploitant la Vision, le traitement du langage naturel et l'IA Générative.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4160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📚  Ce que nous avons appris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395728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6400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/>
          <p:nvPr/>
        </p:nvSpPr>
        <p:spPr>
          <a:xfrm>
            <a:off x="502920" y="2487168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💙  Flutter : StatefulWidget, Routes nommées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64008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🧠  ML Kit : Reconnaissance, Visage, Traduction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639312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7" name="Shape 15"/>
          <p:cNvSpPr/>
          <p:nvPr/>
        </p:nvSpPr>
        <p:spPr>
          <a:xfrm>
            <a:off x="320040" y="3639312"/>
            <a:ext cx="64008" cy="5029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Text 16"/>
          <p:cNvSpPr/>
          <p:nvPr/>
        </p:nvSpPr>
        <p:spPr>
          <a:xfrm>
            <a:off x="502920" y="373075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🌐  API REST : HTTP, JSON, asynchrone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261104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0" name="Shape 18"/>
          <p:cNvSpPr/>
          <p:nvPr/>
        </p:nvSpPr>
        <p:spPr>
          <a:xfrm>
            <a:off x="320040" y="4261104"/>
            <a:ext cx="64008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>
            <a:off x="502920" y="4352544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🎨  Conception avec thème centralisé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1920240"/>
            <a:ext cx="4114800" cy="38404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4800600" y="1920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🔭  Perspectives d'amélioration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395728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5" name="Text 23"/>
          <p:cNvSpPr/>
          <p:nvPr/>
        </p:nvSpPr>
        <p:spPr>
          <a:xfrm>
            <a:off x="4864608" y="2487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📷  Intégrer la caméra en temps réel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3003804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4864608" y="3102283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📊  Ajouter un historique des analyses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3639312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B5F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1" name="Text 29"/>
          <p:cNvSpPr/>
          <p:nvPr/>
        </p:nvSpPr>
        <p:spPr>
          <a:xfrm>
            <a:off x="4864608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🔐  Ajouter une authentification utilisateur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Merci pour votre attention ! 🙏   Firas Mhemdi &amp; Ezedine Jlidi  —  2025 /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897</Words>
  <Application>Microsoft Office PowerPoint</Application>
  <PresentationFormat>Affichage à l'écran (16:9)</PresentationFormat>
  <Paragraphs>240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Kit App - Flutter</dc:title>
  <dc:subject>PptxGenJS Presentation</dc:subject>
  <dc:creator>PptxGenJS</dc:creator>
  <cp:lastModifiedBy>firas mhemdi</cp:lastModifiedBy>
  <cp:revision>5</cp:revision>
  <dcterms:created xsi:type="dcterms:W3CDTF">2026-04-05T12:19:14Z</dcterms:created>
  <dcterms:modified xsi:type="dcterms:W3CDTF">2026-04-05T23:26:43Z</dcterms:modified>
</cp:coreProperties>
</file>